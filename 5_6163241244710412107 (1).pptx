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Cells explored</c:v>
                </c:pt>
              </c:strCache>
            </c:strRef>
          </c:tx>
          <c:spPr>
            <a:solidFill>
              <a:srgbClr val="3B6C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6C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C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6C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9E8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6CF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BFS</c:v>
                  </c:pt>
                  <c:pt idx="1">
                    <c:v>DFS</c:v>
                  </c:pt>
                  <c:pt idx="2">
                    <c:v>UCS</c:v>
                  </c:pt>
                  <c:pt idx="3">
                    <c:v>Greedy</c:v>
                  </c:pt>
                  <c:pt idx="4">
                    <c:v>A*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136</c:v>
                </c:pt>
                <c:pt idx="1">
                  <c:v>38</c:v>
                </c:pt>
                <c:pt idx="2">
                  <c:v>136</c:v>
                </c:pt>
                <c:pt idx="3">
                  <c:v>24</c:v>
                </c:pt>
                <c:pt idx="4">
                  <c:v>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1371600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1928" y="1371600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57416" y="1371600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2904" y="1371600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8392" y="1371600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1847088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1928" y="1847088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57416" y="1847088"/>
            <a:ext cx="475488" cy="475488"/>
          </a:xfrm>
          <a:prstGeom prst="rect">
            <a:avLst/>
          </a:prstGeom>
          <a:solidFill>
            <a:srgbClr val="36C2A8">
              <a:alpha val="17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32904" y="1847088"/>
            <a:ext cx="475488" cy="475488"/>
          </a:xfrm>
          <a:prstGeom prst="rect">
            <a:avLst/>
          </a:prstGeom>
          <a:solidFill>
            <a:srgbClr val="36C2A8">
              <a:alpha val="35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08392" y="1847088"/>
            <a:ext cx="475488" cy="475488"/>
          </a:xfrm>
          <a:prstGeom prst="rect">
            <a:avLst/>
          </a:prstGeom>
          <a:solidFill>
            <a:srgbClr val="36C2A8">
              <a:alpha val="1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2322576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2322576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57416" y="2322576"/>
            <a:ext cx="475488" cy="475488"/>
          </a:xfrm>
          <a:prstGeom prst="rect">
            <a:avLst/>
          </a:prstGeom>
          <a:solidFill>
            <a:srgbClr val="36C2A8">
              <a:alpha val="35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32904" y="2322576"/>
            <a:ext cx="475488" cy="475488"/>
          </a:xfrm>
          <a:prstGeom prst="rect">
            <a:avLst/>
          </a:prstGeom>
          <a:solidFill>
            <a:srgbClr val="36C2A8">
              <a:alpha val="66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2322576"/>
            <a:ext cx="475488" cy="475488"/>
          </a:xfrm>
          <a:prstGeom prst="rect">
            <a:avLst/>
          </a:prstGeom>
          <a:solidFill>
            <a:srgbClr val="36C2A8">
              <a:alpha val="31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798064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2798064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57416" y="2798064"/>
            <a:ext cx="475488" cy="475488"/>
          </a:xfrm>
          <a:prstGeom prst="rect">
            <a:avLst/>
          </a:prstGeom>
          <a:solidFill>
            <a:srgbClr val="36C2A8">
              <a:alpha val="1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2904" y="2798064"/>
            <a:ext cx="475488" cy="475488"/>
          </a:xfrm>
          <a:prstGeom prst="rect">
            <a:avLst/>
          </a:prstGeom>
          <a:solidFill>
            <a:srgbClr val="36C2A8">
              <a:alpha val="31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98064"/>
            <a:ext cx="475488" cy="475488"/>
          </a:xfrm>
          <a:prstGeom prst="rect">
            <a:avLst/>
          </a:prstGeom>
          <a:solidFill>
            <a:srgbClr val="36C2A8">
              <a:alpha val="17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3273552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1928" y="3273552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3273552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32904" y="3273552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08392" y="3273552"/>
            <a:ext cx="475488" cy="475488"/>
          </a:xfrm>
          <a:prstGeom prst="rect">
            <a:avLst/>
          </a:prstGeom>
          <a:solidFill>
            <a:srgbClr val="36C2A8">
              <a:alpha val="4000"/>
            </a:srgbClr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7511" y="2427183"/>
            <a:ext cx="266273" cy="266273"/>
          </a:xfrm>
          <a:prstGeom prst="ellipse">
            <a:avLst/>
          </a:prstGeom>
          <a:solidFill>
            <a:srgbClr val="36C2A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566928"/>
            <a:ext cx="777240" cy="77724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00" y="792328"/>
            <a:ext cx="326441" cy="326441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1554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 Localization</a:t>
            </a:r>
            <a:endParaRPr lang="en-US" sz="4000" dirty="0"/>
          </a:p>
        </p:txBody>
      </p:sp>
      <p:sp>
        <p:nvSpPr>
          <p:cNvPr id="31" name="Text 28"/>
          <p:cNvSpPr/>
          <p:nvPr/>
        </p:nvSpPr>
        <p:spPr>
          <a:xfrm>
            <a:off x="475488" y="28803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web project that finds where a robot is — using search, CSP, decision-making and probabilistic inference.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75488" y="3886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Computational Foundations for AI (25SC1306E)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course outcomes — CO1 to CO6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robot localization?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the project solves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4526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usually does not know its exact position.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has noisy sensors and imperfect movement. Localization is how it works out where it is.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keeps a belief — a probability for every cell saying how likely it is to be there.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it does two things: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— shift the belief the way it moved.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boost the cells that match the sensor reading.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57800" y="13716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40680" y="1627632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88736" y="1627632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36792" y="1627632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84848" y="1627632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32904" y="1627632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627632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2075688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88736" y="2075688"/>
            <a:ext cx="448056" cy="448056"/>
          </a:xfrm>
          <a:prstGeom prst="rect">
            <a:avLst/>
          </a:prstGeom>
          <a:solidFill>
            <a:srgbClr val="4650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2075688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84848" y="2075688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32904" y="2075688"/>
            <a:ext cx="448056" cy="448056"/>
          </a:xfrm>
          <a:prstGeom prst="rect">
            <a:avLst/>
          </a:prstGeom>
          <a:solidFill>
            <a:srgbClr val="4650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2075688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2523744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88736" y="2523744"/>
            <a:ext cx="448056" cy="448056"/>
          </a:xfrm>
          <a:prstGeom prst="rect">
            <a:avLst/>
          </a:prstGeom>
          <a:solidFill>
            <a:srgbClr val="4650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2523744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2523744"/>
            <a:ext cx="448056" cy="448056"/>
          </a:xfrm>
          <a:prstGeom prst="rect">
            <a:avLst/>
          </a:prstGeom>
          <a:solidFill>
            <a:srgbClr val="36C2A8">
              <a:alpha val="33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2904" y="2523744"/>
            <a:ext cx="448056" cy="448056"/>
          </a:xfrm>
          <a:prstGeom prst="rect">
            <a:avLst/>
          </a:prstGeom>
          <a:solidFill>
            <a:srgbClr val="36C2A8">
              <a:alpha val="53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2523744"/>
            <a:ext cx="448056" cy="448056"/>
          </a:xfrm>
          <a:prstGeom prst="rect">
            <a:avLst/>
          </a:prstGeom>
          <a:solidFill>
            <a:srgbClr val="36C2A8">
              <a:alpha val="2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2971800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88736" y="2971800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2971800"/>
            <a:ext cx="448056" cy="448056"/>
          </a:xfrm>
          <a:prstGeom prst="rect">
            <a:avLst/>
          </a:prstGeom>
          <a:solidFill>
            <a:srgbClr val="36C2A8">
              <a:alpha val="1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84848" y="2971800"/>
            <a:ext cx="448056" cy="448056"/>
          </a:xfrm>
          <a:prstGeom prst="rect">
            <a:avLst/>
          </a:prstGeom>
          <a:solidFill>
            <a:srgbClr val="4650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32904" y="2971800"/>
            <a:ext cx="448056" cy="448056"/>
          </a:xfrm>
          <a:prstGeom prst="rect">
            <a:avLst/>
          </a:prstGeom>
          <a:solidFill>
            <a:srgbClr val="36C2A8">
              <a:alpha val="82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2971800"/>
            <a:ext cx="448056" cy="448056"/>
          </a:xfrm>
          <a:prstGeom prst="rect">
            <a:avLst/>
          </a:prstGeom>
          <a:solidFill>
            <a:srgbClr val="36C2A8">
              <a:alpha val="49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3419856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8736" y="3419856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419856"/>
            <a:ext cx="448056" cy="448056"/>
          </a:xfrm>
          <a:prstGeom prst="rect">
            <a:avLst/>
          </a:prstGeom>
          <a:solidFill>
            <a:srgbClr val="36C2A8">
              <a:alpha val="8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84848" y="3419856"/>
            <a:ext cx="448056" cy="448056"/>
          </a:xfrm>
          <a:prstGeom prst="rect">
            <a:avLst/>
          </a:prstGeom>
          <a:solidFill>
            <a:srgbClr val="36C2A8">
              <a:alpha val="24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32904" y="3419856"/>
            <a:ext cx="448056" cy="448056"/>
          </a:xfrm>
          <a:prstGeom prst="rect">
            <a:avLst/>
          </a:prstGeom>
          <a:solidFill>
            <a:srgbClr val="36C2A8">
              <a:alpha val="45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3419856"/>
            <a:ext cx="448056" cy="448056"/>
          </a:xfrm>
          <a:prstGeom prst="rect">
            <a:avLst/>
          </a:prstGeom>
          <a:solidFill>
            <a:srgbClr val="36C2A8">
              <a:alpha val="24000"/>
            </a:srgbClr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86671" y="3025567"/>
            <a:ext cx="340523" cy="340523"/>
          </a:xfrm>
          <a:prstGeom prst="ellipse">
            <a:avLst/>
          </a:prstGeom>
          <a:ln w="31750">
            <a:solidFill>
              <a:srgbClr val="E0A3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58360" y="3097256"/>
            <a:ext cx="197145" cy="197145"/>
          </a:xfrm>
          <a:prstGeom prst="ellipse">
            <a:avLst/>
          </a:prstGeom>
          <a:solidFill>
            <a:srgbClr val="0E9E84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822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heatmap: brighter = more likely.  Amber ring = estimate, teal dot = true position.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is helpful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that proves the whole course in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777240" cy="77724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20" y="187132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9928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syllabus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09928" y="19385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outcome (CO1–CO6) maps to a real, working feature — not just theory.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45920"/>
            <a:ext cx="777240" cy="777240"/>
          </a:xfrm>
          <a:prstGeom prst="ellipse">
            <a:avLst/>
          </a:prstGeom>
          <a:solidFill>
            <a:srgbClr val="3B6CF0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60" y="1871320"/>
            <a:ext cx="326441" cy="3264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16168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concepts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916168" y="19385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CSP, decisions and probability all work together on one real robotics problem.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852928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127248"/>
            <a:ext cx="777240" cy="777240"/>
          </a:xfrm>
          <a:prstGeom prst="ellipse">
            <a:avLst/>
          </a:prstGeom>
          <a:solidFill>
            <a:srgbClr val="7C5CD3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20" y="3352648"/>
            <a:ext cx="326441" cy="3264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9928" y="3035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working software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09928" y="341985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backend, a database and an interactive web frontend — a full-stack build.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852928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127248"/>
            <a:ext cx="777240" cy="777240"/>
          </a:xfrm>
          <a:prstGeom prst="ellipse">
            <a:avLst/>
          </a:prstGeom>
          <a:solidFill>
            <a:srgbClr val="2E9E5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160" y="3352648"/>
            <a:ext cx="326441" cy="3264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16168" y="3035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and explainable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916168" y="341985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robot localize live, and read a plain-English reasoning trace of each step.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 (technology)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three-part full-stack web application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691640"/>
            <a:ext cx="777240" cy="777240"/>
          </a:xfrm>
          <a:prstGeom prst="ellipse">
            <a:avLst/>
          </a:prstGeom>
          <a:solidFill>
            <a:srgbClr val="3B6CF0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720" y="191704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088" y="303580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with a Canvas — draws the grid, the moving robot, the belief heatmap and the particle cloud; you edit the map by clicking.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0" y="1691640"/>
            <a:ext cx="777240" cy="77724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640" y="1917040"/>
            <a:ext cx="326441" cy="3264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93008" y="303580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FastAPI — runs all the AI algorithms and serves them through an API (auto-docs at /docs).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08076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5160" y="1691640"/>
            <a:ext cx="777240" cy="777240"/>
          </a:xfrm>
          <a:prstGeom prst="ellipse">
            <a:avLst/>
          </a:prstGeom>
          <a:solidFill>
            <a:srgbClr val="D9832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60" y="1917040"/>
            <a:ext cx="326441" cy="3264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81928" y="303580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stores saved maps and the results of past simulation runs.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31089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◄ ►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8978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◄ ►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maps to CO1–CO6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outcome is a working part of the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91056"/>
            <a:ext cx="603504" cy="603504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096" y="1766072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865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1579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robot, goals &amp; actions as Python states, with traceable reasoning.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55264" y="1371600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38144" y="1591056"/>
            <a:ext cx="603504" cy="603504"/>
          </a:xfrm>
          <a:prstGeom prst="ellipse">
            <a:avLst/>
          </a:prstGeom>
          <a:solidFill>
            <a:srgbClr val="3B6CF0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160" y="1766072"/>
            <a:ext cx="253472" cy="253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23944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23944" y="1865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21579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UCS, Greedy &amp; A* path planning + heuristics.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53328" y="1371600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36208" y="1591056"/>
            <a:ext cx="603504" cy="603504"/>
          </a:xfrm>
          <a:prstGeom prst="ellipse">
            <a:avLst/>
          </a:prstGeom>
          <a:solidFill>
            <a:srgbClr val="D9832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224" y="1766072"/>
            <a:ext cx="253472" cy="253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22008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922008" y="1865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54496" y="21579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with MRV/LCV + forward-checking + AC-3.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7200" y="2852928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072384"/>
            <a:ext cx="603504" cy="603504"/>
          </a:xfrm>
          <a:prstGeom prst="ellipse">
            <a:avLst/>
          </a:prstGeom>
          <a:solidFill>
            <a:srgbClr val="7C5CD3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96" y="3247400"/>
            <a:ext cx="253472" cy="253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3054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325880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58368" y="3639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policy: pick moves that cut uncertainty fastest.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55264" y="2852928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38144" y="3072384"/>
            <a:ext cx="603504" cy="603504"/>
          </a:xfrm>
          <a:prstGeom prst="ellipse">
            <a:avLst/>
          </a:prstGeom>
          <a:solidFill>
            <a:srgbClr val="D85A6A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3160" y="3247400"/>
            <a:ext cx="253472" cy="253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123944" y="3054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123944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56432" y="3639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Bayes/Markov filter + particle filter (sampling) for tracking.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053328" y="2852928"/>
            <a:ext cx="2651760" cy="1353312"/>
          </a:xfrm>
          <a:prstGeom prst="roundRect">
            <a:avLst>
              <a:gd name="adj" fmla="val 540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36208" y="3072384"/>
            <a:ext cx="603504" cy="603504"/>
          </a:xfrm>
          <a:prstGeom prst="ellipse">
            <a:avLst/>
          </a:prstGeom>
          <a:solidFill>
            <a:srgbClr val="2E9E5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224" y="3247400"/>
            <a:ext cx="253472" cy="253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22008" y="3054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922008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pipeline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54496" y="3639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combined, producing step-by-step reasoning traces.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— Search algorithms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the robot's route, and comparing efficiency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640080"/>
          </a:xfrm>
          <a:prstGeom prst="ellipse">
            <a:avLst/>
          </a:prstGeom>
          <a:solidFill>
            <a:srgbClr val="3B6CF0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" y="1557223"/>
            <a:ext cx="268834" cy="2688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plans its path with five classic algorithms: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&amp; UCS find the shortest path but explore many cells.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explores little, but its path is longer.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explores the fewest cells using a heuristic.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uses the heuristic and guarantees the shortest path.</a:t>
            </a:r>
            <a:endParaRPr lang="en-US" sz="12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50" i="1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different frontier ordering — that is the CO2 lesson on time/space trade-offs.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92040" y="1417320"/>
          <a:ext cx="38404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89204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explored on the demo map — Greedy does the least work.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 — Constraint Satisfaction (CSP)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resource task: assigning sensor channels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640080"/>
          </a:xfrm>
          <a:prstGeom prst="ellipse">
            <a:avLst/>
          </a:prstGeom>
          <a:solidFill>
            <a:srgbClr val="D9832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" y="1557223"/>
            <a:ext cx="268834" cy="2688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split into zones. Neighbouring zones must use different sensor channels so they don't interfere — a graph-colouring CSP.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the full CO3 toolkit: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search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MRV, degree &amp; LCV heuristics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checking + AC-3 propagation</a:t>
            </a:r>
            <a:endParaRPr lang="en-US" sz="125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50" i="1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channels → it correctly reports failure; enough → it solves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577840" y="146304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783080"/>
            <a:ext cx="621792" cy="621792"/>
          </a:xfrm>
          <a:prstGeom prst="roundRect">
            <a:avLst>
              <a:gd name="adj" fmla="val 7353"/>
            </a:avLst>
          </a:prstGeom>
          <a:solidFill>
            <a:srgbClr val="0E9E84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1112" y="1783080"/>
            <a:ext cx="621792" cy="621792"/>
          </a:xfrm>
          <a:prstGeom prst="roundRect">
            <a:avLst>
              <a:gd name="adj" fmla="val 7353"/>
            </a:avLst>
          </a:prstGeom>
          <a:solidFill>
            <a:srgbClr val="D98324"/>
          </a:solidFill>
          <a:ln/>
        </p:spPr>
      </p:sp>
      <p:sp>
        <p:nvSpPr>
          <p:cNvPr id="11" name="Text 8"/>
          <p:cNvSpPr/>
          <p:nvPr/>
        </p:nvSpPr>
        <p:spPr>
          <a:xfrm>
            <a:off x="6611112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24344" y="1783080"/>
            <a:ext cx="621792" cy="621792"/>
          </a:xfrm>
          <a:prstGeom prst="roundRect">
            <a:avLst>
              <a:gd name="adj" fmla="val 7353"/>
            </a:avLst>
          </a:prstGeom>
          <a:solidFill>
            <a:srgbClr val="0E9E84"/>
          </a:solidFill>
          <a:ln/>
        </p:spPr>
      </p:sp>
      <p:sp>
        <p:nvSpPr>
          <p:cNvPr id="13" name="Text 10"/>
          <p:cNvSpPr/>
          <p:nvPr/>
        </p:nvSpPr>
        <p:spPr>
          <a:xfrm>
            <a:off x="7324344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97880" y="2496312"/>
            <a:ext cx="621792" cy="621792"/>
          </a:xfrm>
          <a:prstGeom prst="roundRect">
            <a:avLst>
              <a:gd name="adj" fmla="val 7353"/>
            </a:avLst>
          </a:prstGeom>
          <a:solidFill>
            <a:srgbClr val="3B6CF0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24963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11112" y="2496312"/>
            <a:ext cx="621792" cy="621792"/>
          </a:xfrm>
          <a:prstGeom prst="roundRect">
            <a:avLst>
              <a:gd name="adj" fmla="val 7353"/>
            </a:avLst>
          </a:prstGeom>
          <a:solidFill>
            <a:srgbClr val="D85A6A"/>
          </a:solidFill>
          <a:ln/>
        </p:spPr>
      </p:sp>
      <p:sp>
        <p:nvSpPr>
          <p:cNvPr id="17" name="Text 14"/>
          <p:cNvSpPr/>
          <p:nvPr/>
        </p:nvSpPr>
        <p:spPr>
          <a:xfrm>
            <a:off x="6611112" y="24963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24344" y="2496312"/>
            <a:ext cx="621792" cy="621792"/>
          </a:xfrm>
          <a:prstGeom prst="roundRect">
            <a:avLst>
              <a:gd name="adj" fmla="val 7353"/>
            </a:avLst>
          </a:prstGeom>
          <a:solidFill>
            <a:srgbClr val="3B6CF0"/>
          </a:solidFill>
          <a:ln/>
        </p:spPr>
      </p:sp>
      <p:sp>
        <p:nvSpPr>
          <p:cNvPr id="19" name="Text 16"/>
          <p:cNvSpPr/>
          <p:nvPr/>
        </p:nvSpPr>
        <p:spPr>
          <a:xfrm>
            <a:off x="7324344" y="24963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97880" y="3209544"/>
            <a:ext cx="621792" cy="621792"/>
          </a:xfrm>
          <a:prstGeom prst="roundRect">
            <a:avLst>
              <a:gd name="adj" fmla="val 7353"/>
            </a:avLst>
          </a:prstGeom>
          <a:solidFill>
            <a:srgbClr val="0E9E84"/>
          </a:solidFill>
          <a:ln/>
        </p:spPr>
      </p:sp>
      <p:sp>
        <p:nvSpPr>
          <p:cNvPr id="21" name="Text 18"/>
          <p:cNvSpPr/>
          <p:nvPr/>
        </p:nvSpPr>
        <p:spPr>
          <a:xfrm>
            <a:off x="5897880" y="3209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11112" y="3209544"/>
            <a:ext cx="621792" cy="621792"/>
          </a:xfrm>
          <a:prstGeom prst="roundRect">
            <a:avLst>
              <a:gd name="adj" fmla="val 7353"/>
            </a:avLst>
          </a:prstGeom>
          <a:solidFill>
            <a:srgbClr val="D98324"/>
          </a:solidFill>
          <a:ln/>
        </p:spPr>
      </p:sp>
      <p:sp>
        <p:nvSpPr>
          <p:cNvPr id="23" name="Text 20"/>
          <p:cNvSpPr/>
          <p:nvPr/>
        </p:nvSpPr>
        <p:spPr>
          <a:xfrm>
            <a:off x="6611112" y="3209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24344" y="3209544"/>
            <a:ext cx="621792" cy="621792"/>
          </a:xfrm>
          <a:prstGeom prst="roundRect">
            <a:avLst>
              <a:gd name="adj" fmla="val 7353"/>
            </a:avLst>
          </a:prstGeom>
          <a:solidFill>
            <a:srgbClr val="0E9E84"/>
          </a:solidFill>
          <a:ln/>
        </p:spPr>
      </p:sp>
      <p:sp>
        <p:nvSpPr>
          <p:cNvPr id="25" name="Text 22"/>
          <p:cNvSpPr/>
          <p:nvPr/>
        </p:nvSpPr>
        <p:spPr>
          <a:xfrm>
            <a:off x="7324344" y="3209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23560" y="3822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gets a channel; no two touching zones share one.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 — Reasoning under uncertainty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project: two ways to do inference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27632"/>
            <a:ext cx="731520" cy="731520"/>
          </a:xfrm>
          <a:prstGeom prst="ellipse">
            <a:avLst/>
          </a:prstGeom>
          <a:solidFill>
            <a:srgbClr val="D85A6A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3977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642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/ Bayes filter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Markov model with exact Bayesian inference — keeps a probability for every cell. Precise, but stores the whole grid.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27632"/>
            <a:ext cx="731520" cy="731520"/>
          </a:xfrm>
          <a:prstGeom prst="ellipse">
            <a:avLst/>
          </a:prstGeom>
          <a:solidFill>
            <a:srgbClr val="3B6CF0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01" y="183977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6642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65192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Sampling-based (Monte-Carlo) inference — a cloud of guesses that move, get weighted and resampled. Approximate, but light.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AF6F2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986784"/>
            <a:ext cx="566928" cy="566928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41" y="4151193"/>
            <a:ext cx="238110" cy="238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31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between the two in the app lets you see the classic accuracy-vs-cost trade-off — exactly what CO5 asks for (Markov models + sampling for tracking).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which concept is used in each CO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Concept / technique used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Where it is in the project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8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Problem as states / actions / goals in Python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465C"/>
                          </a:solidFill>
                        </a:rPr>
                        <a:t>Grid world, robot, reasoning trace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Search: BFS, DFS, UCS, Greedy, A* + heuristics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465C"/>
                          </a:solidFill>
                        </a:rPr>
                        <a:t>Path planner + 'Compare planners'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CSP: backtracking, MRV/degree/LCV, AC-3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465C"/>
                          </a:solidFill>
                        </a:rPr>
                        <a:t>Sensor-channel assignment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Decision-making: utility-based policy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465C"/>
                          </a:solidFill>
                        </a:rPr>
                        <a:t>Active localization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5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Uncertainty: Markov model + sampling inference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465C"/>
                          </a:solidFill>
                        </a:rPr>
                        <a:t>Histogram filter + particle filter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Integrated pipeline + explainable outputs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465C"/>
                          </a:solidFill>
                        </a:rPr>
                        <a:t>Reasoning traces across the app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demonstrate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the browser, no extra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08760"/>
            <a:ext cx="530352" cy="530352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90" y="1662562"/>
            <a:ext cx="222748" cy="2227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44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simulation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74650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robot move while the belief heatmap converges on its true position.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508760"/>
            <a:ext cx="530352" cy="530352"/>
          </a:xfrm>
          <a:prstGeom prst="ellipse">
            <a:avLst/>
          </a:prstGeom>
          <a:solidFill>
            <a:srgbClr val="3B6CF0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130" y="1662562"/>
            <a:ext cx="222748" cy="2227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444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filter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23560" y="174650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histogram (exact) and particle (sampling) filters on the same run.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350008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2532888"/>
            <a:ext cx="530352" cy="530352"/>
          </a:xfrm>
          <a:prstGeom prst="ellipse">
            <a:avLst/>
          </a:prstGeom>
          <a:solidFill>
            <a:srgbClr val="7C5CD3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" y="2686690"/>
            <a:ext cx="222748" cy="2227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468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localize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27706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robot choose moves that reduce its own uncertainty fastest.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350008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2532888"/>
            <a:ext cx="530352" cy="530352"/>
          </a:xfrm>
          <a:prstGeom prst="ellipse">
            <a:avLst/>
          </a:prstGeom>
          <a:solidFill>
            <a:srgbClr val="D9832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130" y="2686690"/>
            <a:ext cx="222748" cy="2227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468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CSP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27706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channels to zones; see it fail with too few and succeed with enough.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3374136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3557016"/>
            <a:ext cx="530352" cy="530352"/>
          </a:xfrm>
          <a:prstGeom prst="ellipse">
            <a:avLst/>
          </a:prstGeom>
          <a:solidFill>
            <a:srgbClr val="2E9E5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90" y="3710818"/>
            <a:ext cx="222748" cy="2227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3493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planners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17320" y="379476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path cost vs cells explored for every search algorithm.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09160" y="3374136"/>
            <a:ext cx="397764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10328" y="3557016"/>
            <a:ext cx="530352" cy="530352"/>
          </a:xfrm>
          <a:prstGeom prst="ellipse">
            <a:avLst/>
          </a:prstGeom>
          <a:solidFill>
            <a:srgbClr val="D85A6A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130" y="3710818"/>
            <a:ext cx="222748" cy="2227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493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623560" y="379476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plain-English reasoning trace explaining each step.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731520" cy="73152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25400" dir="5400000">
              <a:srgbClr val="222B3A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8065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057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 project that demonstrates every course outcome — search, CSP, decision-making and probabilistic inference under uncertainty — applied to the real robotics problem of a robot localizing itself.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backend   ·   SQLite database   ·   interactive HTML / JavaScript frontend   ·   CO1–CO6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Robot Localization</dc:title>
  <dc:subject>PptxGenJS Presentation</dc:subject>
  <dc:creator>Student</dc:creator>
  <cp:lastModifiedBy>Student</cp:lastModifiedBy>
  <cp:revision>1</cp:revision>
  <dcterms:created xsi:type="dcterms:W3CDTF">2026-06-16T05:07:10Z</dcterms:created>
  <dcterms:modified xsi:type="dcterms:W3CDTF">2026-06-16T05:07:10Z</dcterms:modified>
</cp:coreProperties>
</file>